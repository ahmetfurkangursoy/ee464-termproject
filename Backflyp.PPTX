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4" r:id="rId7"/>
    <p:sldId id="260" r:id="rId8"/>
    <p:sldId id="278" r:id="rId9"/>
    <p:sldId id="261" r:id="rId10"/>
    <p:sldId id="265" r:id="rId11"/>
    <p:sldId id="266" r:id="rId12"/>
    <p:sldId id="262" r:id="rId13"/>
    <p:sldId id="280" r:id="rId14"/>
    <p:sldId id="281" r:id="rId15"/>
    <p:sldId id="271" r:id="rId16"/>
    <p:sldId id="268" r:id="rId17"/>
    <p:sldId id="269" r:id="rId18"/>
    <p:sldId id="272" r:id="rId19"/>
    <p:sldId id="273" r:id="rId20"/>
    <p:sldId id="274" r:id="rId21"/>
    <p:sldId id="275" r:id="rId22"/>
    <p:sldId id="277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676110-FAA2-A961-F124-130F3172E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A831127-5DEA-F0E2-89B3-6762400BA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1CA2A4-2032-8F51-FF01-A6138C66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E1C72C-F962-23A1-00E2-E6C0B4BD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0998C0-6DAB-53DC-5E6A-3BB1A60F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12771A-0E52-B134-1AAD-6ACBEE34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7A962D-3586-A059-80CC-E1F466E9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80F6386-D31E-809D-B370-CF05F0C3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117691-D50A-29CE-CE6D-FD1F6AC2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F21D9F-C172-7B62-4F51-A30DE407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1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223AD7-6870-FA6D-5E39-3AB8BBD4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FB9C28B-87CA-D117-CFE7-A73D2D851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1624E6-CB5E-BA0E-8CFA-1278C02B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EE8A0BD-F308-6535-45ED-A33E8BE2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394FBC-60D5-537A-B4C7-0E3BEFEC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01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3BCB6C-EF74-CFB7-4ED4-1E88D443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8FAEC6-B29F-03DC-868C-59C5EE06D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8F4DCDB-53F9-1A16-142B-DCE4D8E1B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B9925AA-31E3-9226-2AFE-8DD54465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2ECDF96-AE2D-BE59-4932-9570733B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31D25E6-0886-686F-4C82-E0803ACA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5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D1ED90-C27C-9611-E8B1-28D49FAA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786DA39-EC0E-2B91-F744-B7B74388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B8893C2-F4C8-B975-3CA8-D5E9B71D9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F314F0C-9818-2A86-A27C-5A00E5FC6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9EE79A8-86B7-928A-1AF2-5B6E7A99F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D8C7D1A-764C-E339-1BD8-E51766F5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B70E88F-C8B7-E884-5BD4-AADEDBB2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467CFAA-8AC2-9FFE-EB4F-6AD0429B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87812E-206C-E4F1-51D9-9696B8C7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5A8AB69-F949-4461-035B-9EC9D5AA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13C41B5-89C8-3124-3E86-76193C3E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2BB107A-612A-8A0A-8741-7348590B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1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E1BC56C-66B8-C544-7FC0-B6A22FA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E79849A-2625-1F03-071E-3624563E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26A0F98-53E2-9CFA-2D70-9EAACD63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1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6D1D01-DCBD-46F3-FAAA-2834B4EA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1391F3-D141-6D2B-B4B8-2A7ED51E4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41D9EE2-9F9A-1A24-D2DA-52AC91D22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3C890B-1F79-3C0C-08DF-82433C52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8B1AB1E-0E53-ED92-9468-52D1E49B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967398-9630-2A7F-F87C-69A75D75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2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8DC538-5F85-ADCE-908E-44B55B65F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570FFF6-6BD2-8942-6C79-E60B0E06B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ACCDBAC-CA89-712D-6648-0F3C1290F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ABE74D7-307B-07DA-653F-E2F105DE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423C50C-1B4B-03CE-0905-00DED175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1A47AA6-49F9-6167-4E0F-16FEC278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6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0BFC86-16C5-590B-7FB0-0F19863B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FEDE33F-4977-44A0-18E6-D36BDB498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568BA4-2774-38BF-46F4-5849EBD1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AC36D0-3AC0-509C-A32A-7C59C5C9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BA46CDA-D39C-6AC3-4F20-5D207B4A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9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54E6F62-D7D3-61CA-142F-E06DD8C43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681D9FE-0022-E3E9-462D-082D61FA9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5851EC-3D10-CFAA-DAE6-D60E4A4E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90A91F-E065-3A1D-CC6A-8513389A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5B80E9E-919B-551E-5953-EC59738C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4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CA101C1-D670-020F-9581-B1C82448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03C3A7F-1990-1D57-B440-B0758A4CA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E2429A8-0835-0073-2954-A1320A77B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19D79-3319-4DFD-982D-0F3451A3215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4F462A-4BB4-D9A9-6983-BBDAA55F6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5C332F5-45CB-9CFC-6765-C7E8882C0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D5659-176A-4227-9F23-B0678ECAA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4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CD37DE-6040-52D2-CED3-E5DD8A54D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tr-TR" b="1" dirty="0"/>
              <a:t>BACKFLYP</a:t>
            </a:r>
            <a:endParaRPr lang="en-US" b="1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0A204BD-D2AB-D3D2-2A51-7E949D682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Md </a:t>
            </a:r>
            <a:r>
              <a:rPr lang="tr-TR" dirty="0" err="1"/>
              <a:t>Shazid</a:t>
            </a:r>
            <a:r>
              <a:rPr lang="tr-TR" dirty="0"/>
              <a:t> Hasan - 1824572</a:t>
            </a:r>
          </a:p>
          <a:p>
            <a:r>
              <a:rPr lang="tr-TR" dirty="0"/>
              <a:t>Ahmet Furkan Gürsoy - 2375061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0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AEE94C-8137-7ECF-47EA-10BE57DE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b="1" dirty="0" err="1"/>
              <a:t>Why</a:t>
            </a:r>
            <a:r>
              <a:rPr lang="tr-TR" sz="4000" b="1" dirty="0"/>
              <a:t> </a:t>
            </a:r>
            <a:r>
              <a:rPr lang="tr-TR" sz="4000" b="1" dirty="0" err="1"/>
              <a:t>Flyback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60BC76-C771-EAB5-D540-4B4661EFA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Good</a:t>
            </a:r>
            <a:r>
              <a:rPr lang="tr-TR" dirty="0"/>
              <a:t> </a:t>
            </a:r>
            <a:r>
              <a:rPr lang="tr-TR" dirty="0" err="1"/>
              <a:t>Isolation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Wide</a:t>
            </a:r>
            <a:r>
              <a:rPr lang="tr-TR" dirty="0"/>
              <a:t> 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Range</a:t>
            </a:r>
            <a:endParaRPr lang="tr-TR" dirty="0"/>
          </a:p>
          <a:p>
            <a:endParaRPr lang="tr-TR" dirty="0"/>
          </a:p>
          <a:p>
            <a:r>
              <a:rPr lang="tr-TR" dirty="0"/>
              <a:t>High </a:t>
            </a:r>
            <a:r>
              <a:rPr lang="tr-TR" dirty="0" err="1"/>
              <a:t>Efficiency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Fewer</a:t>
            </a:r>
            <a:r>
              <a:rPr lang="tr-TR" dirty="0"/>
              <a:t> Component </a:t>
            </a:r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Topologies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Many</a:t>
            </a:r>
            <a:r>
              <a:rPr lang="tr-TR" dirty="0"/>
              <a:t> Design </a:t>
            </a:r>
            <a:r>
              <a:rPr lang="tr-TR" dirty="0" err="1"/>
              <a:t>Guides</a:t>
            </a:r>
            <a:r>
              <a:rPr lang="tr-T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82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701B8D-C7F9-59AF-00A2-6BE69D66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Design </a:t>
            </a:r>
            <a:r>
              <a:rPr lang="tr-TR" b="1" dirty="0" err="1"/>
              <a:t>Parameters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1"/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𝑄𝑚𝑎𝑥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𝑅𝑂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tr-TR" b="0" dirty="0"/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𝑅𝑂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𝑄𝑚𝑎𝑥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tr-TR" dirty="0"/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𝑅𝑂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2−18=24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tr-TR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𝑅𝑂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    →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84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10119"/>
                <a:ext cx="10515600" cy="5466844"/>
              </a:xfrm>
            </p:spPr>
            <p:txBody>
              <a:bodyPr>
                <a:normAutofit fontScale="85000" lnSpcReduction="10000"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  <m:sup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</m:den>
                    </m:f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(12∗0.5)</m:t>
                            </m:r>
                          </m:e>
                          <m:sup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∗0.9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2∗48∗60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𝑘𝐻𝑧</m:t>
                        </m:r>
                      </m:den>
                    </m:f>
                    <m:r>
                      <a:rPr lang="tr-TR" b="0" i="1" smtClean="0">
                        <a:latin typeface="Cambria Math" panose="02040503050406030204" pitchFamily="18" charset="0"/>
                      </a:rPr>
                      <m:t>=5.625 </m:t>
                    </m:r>
                    <m:r>
                      <a:rPr lang="tr-T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tr-T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tr-TR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</m:den>
                    </m:f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12∗0.5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5.625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∗60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tr-TR" b="0" i="1" smtClean="0">
                        <a:latin typeface="Cambria Math" panose="02040503050406030204" pitchFamily="18" charset="0"/>
                      </a:rPr>
                      <m:t>=17.78 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tr-TR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=17.78∗</m:t>
                    </m:r>
                    <m:rad>
                      <m:radPr>
                        <m:degHide m:val="on"/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num>
                          <m:den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tr-TR" b="0" i="1" smtClean="0">
                        <a:latin typeface="Cambria Math" panose="02040503050406030204" pitchFamily="18" charset="0"/>
                      </a:rPr>
                      <m:t>=7.26 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tr-TR" b="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17.78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tr-TR" b="0" i="1" smtClean="0">
                        <a:latin typeface="Cambria Math" panose="02040503050406030204" pitchFamily="18" charset="0"/>
                      </a:rPr>
                      <m:t>=8.89 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tr-TR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=8.89∗</m:t>
                    </m:r>
                    <m:rad>
                      <m:radPr>
                        <m:degHide m:val="on"/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num>
                          <m:den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tr-TR" b="0" i="1" smtClean="0">
                        <a:latin typeface="Cambria Math" panose="02040503050406030204" pitchFamily="18" charset="0"/>
                      </a:rPr>
                      <m:t>=3.63 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10119"/>
                <a:ext cx="10515600" cy="546684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68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701B8D-C7F9-59AF-00A2-6BE69D66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Magnetic</a:t>
            </a:r>
            <a:r>
              <a:rPr lang="tr-TR" b="1" dirty="0"/>
              <a:t> Design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=0.2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𝑐𝑢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tr-TR" sz="2400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𝑊𝑎𝐴𝑐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2∗0.3∗5∗0.2∗60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∗100=0.133 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tr-TR" b="0" dirty="0"/>
              </a:p>
              <a:p>
                <a:pPr>
                  <a:lnSpc>
                    <a:spcPct val="200000"/>
                  </a:lnSpc>
                </a:pPr>
                <a:r>
                  <a:rPr lang="en-US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00K2510E090</a:t>
                </a:r>
                <a:r>
                  <a:rPr lang="tr-TR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tr-TR" sz="20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Core</a:t>
                </a:r>
                <a:r>
                  <a:rPr lang="tr-TR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tr-TR" sz="20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Values</a:t>
                </a:r>
                <a:r>
                  <a:rPr lang="tr-TR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=77.8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=38.5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tr-TR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𝑊𝑎𝐴𝑐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=77.8</m:t>
                      </m:r>
                      <m:sSup>
                        <m:sSup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38.5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=0.3 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tr-TR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29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D768A56-600D-97FA-8EB5-361A10AD2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10515600" cy="319553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endParaRPr lang="tr-T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=5.625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tr-TR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=7.26∗8≈60   →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90 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𝑛𝐻</m:t>
                          </m:r>
                        </m:num>
                        <m:den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tr-TR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∗90∗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=5.76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tr-TR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=2∗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=2∗8=16</m:t>
                      </m:r>
                    </m:oMath>
                  </m:oMathPara>
                </a14:m>
                <a:endParaRPr lang="tr-TR" sz="2400" b="0" dirty="0"/>
              </a:p>
              <a:p>
                <a:pPr marL="0" indent="0">
                  <a:buNone/>
                </a:pPr>
                <a:endParaRPr lang="tr-TR" b="0" dirty="0"/>
              </a:p>
              <a:p>
                <a:pPr marL="0" indent="0">
                  <a:buNone/>
                </a:pPr>
                <a:endParaRPr lang="tr-TR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D768A56-600D-97FA-8EB5-361A10AD2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10515600" cy="31955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>
            <a:extLst>
              <a:ext uri="{FF2B5EF4-FFF2-40B4-BE49-F238E27FC236}">
                <a16:creationId xmlns:a16="http://schemas.microsoft.com/office/drawing/2014/main" id="{C24D2D1F-BA4C-77F9-3F38-4E43678F8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72" y="84304"/>
            <a:ext cx="8725656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7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00391"/>
                <a:ext cx="10515600" cy="5476572"/>
              </a:xfrm>
            </p:spPr>
            <p:txBody>
              <a:bodyPr/>
              <a:lstStyle/>
              <a:p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  <a:p>
                <a:pPr marL="0" indent="0">
                  <a:buNone/>
                </a:pPr>
                <a:endParaRPr lang="tr-TR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𝑝𝑟𝑖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7.26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=1.452 </m:t>
                      </m:r>
                      <m:sSup>
                        <m:s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3.63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=0.726 </m:t>
                      </m:r>
                      <m:sSup>
                        <m:s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tr-TR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𝑝𝑟𝑖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1.452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0.205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≈7     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0.726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0.205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427C9AB-DB54-3FDF-AFEB-1BFB9233E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00391"/>
                <a:ext cx="10515600" cy="54765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>
            <a:extLst>
              <a:ext uri="{FF2B5EF4-FFF2-40B4-BE49-F238E27FC236}">
                <a16:creationId xmlns:a16="http://schemas.microsoft.com/office/drawing/2014/main" id="{18A2181B-D4FD-EDAD-D51A-652071A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19" y="681037"/>
            <a:ext cx="11381362" cy="160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8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C4BD0C-A0F2-AC17-57F7-5C43EA24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747"/>
          </a:xfrm>
        </p:spPr>
        <p:txBody>
          <a:bodyPr/>
          <a:lstStyle/>
          <a:p>
            <a:r>
              <a:rPr lang="tr-TR" sz="4000" b="1" dirty="0" err="1"/>
              <a:t>Semiconductors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60424C2E-2939-A165-D65F-600AA7522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1872"/>
                <a:ext cx="10515600" cy="4815091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tr-TR" dirty="0"/>
                  <a:t>FQP30N6;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=60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=40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l-GR" sz="2400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=19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𝑛𝐶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𝑗𝑐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=1.9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tr-TR" sz="2400" dirty="0"/>
              </a:p>
              <a:p>
                <a:pPr marL="0" indent="0">
                  <a:buNone/>
                </a:pPr>
                <a:endParaRPr lang="tr-TR" sz="2400" dirty="0"/>
              </a:p>
              <a:p>
                <a:pPr>
                  <a:lnSpc>
                    <a:spcPct val="120000"/>
                  </a:lnSpc>
                </a:pPr>
                <a:r>
                  <a:rPr lang="tr-TR" dirty="0"/>
                  <a:t>MBR20100;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𝑅𝑅𝑀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=0.8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𝑗𝑐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60424C2E-2939-A165-D65F-600AA7522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1872"/>
                <a:ext cx="10515600" cy="4815091"/>
              </a:xfrm>
              <a:blipFill>
                <a:blip r:embed="rId2"/>
                <a:stretch>
                  <a:fillRect l="-1043" t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97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EBAC74-A9A2-03FD-FAF4-B88ECE86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Losses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FFFD5FAF-D227-957B-DB38-80F8E63E7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604"/>
                <a:ext cx="10515600" cy="469835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𝑀𝐿𝑇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=39.11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tr-TR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𝑝𝑟𝑖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8∗39.11∗</m:t>
                          </m:r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∗84.198∗</m:t>
                          </m:r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=3.76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tr-TR" sz="2400" dirty="0"/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16∗39.11∗</m:t>
                          </m:r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∗84.198∗</m:t>
                          </m:r>
                          <m:sSup>
                            <m:sSup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=13.17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tr-TR" sz="2400" dirty="0"/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𝑐𝑢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7.26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∗3.76∗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3.63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∗13.17∗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=370.7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𝑚𝑊</m:t>
                      </m:r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=46.32∗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1.988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1.541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=1.038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FFFD5FAF-D227-957B-DB38-80F8E63E7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604"/>
                <a:ext cx="10515600" cy="46983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28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98265135-01C1-6B4C-D85F-4F5F1BC2F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00391"/>
                <a:ext cx="10515600" cy="547657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𝑐𝑜𝑛𝑑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𝑀𝑂𝑆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17.78</m:t>
                              </m:r>
                            </m:num>
                            <m:den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∗0.04=0.79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𝑀𝑂𝑆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𝑀𝑂𝑆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=18∗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17.78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∗60∗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85+40</m:t>
                          </m:r>
                        </m:e>
                      </m:d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=0.6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tr-TR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𝑐𝑜𝑛𝑑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𝐷𝑖𝑜𝑑𝑒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8.89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∗0.8=1.78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tr-TR" sz="24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tr-TR" sz="2400" dirty="0" err="1"/>
                  <a:t>Snubber</a:t>
                </a:r>
                <a:r>
                  <a:rPr lang="tr-TR" sz="2400" dirty="0"/>
                  <a:t> </a:t>
                </a:r>
                <a:r>
                  <a:rPr lang="tr-TR" sz="2400" dirty="0" err="1"/>
                  <a:t>Loss</a:t>
                </a:r>
                <a:r>
                  <a:rPr lang="tr-TR" sz="2400" dirty="0"/>
                  <a:t>?</a:t>
                </a:r>
              </a:p>
              <a:p>
                <a:pPr marL="0" indent="0">
                  <a:buNone/>
                </a:pPr>
                <a:endParaRPr lang="tr-TR" sz="2000" dirty="0"/>
              </a:p>
              <a:p>
                <a:pPr marL="0" indent="0">
                  <a:buNone/>
                </a:pPr>
                <a:endParaRPr lang="tr-TR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98265135-01C1-6B4C-D85F-4F5F1BC2F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00391"/>
                <a:ext cx="10515600" cy="54765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04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518F4D-B34A-A3F8-FBB8-C46DEA6B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Thermal</a:t>
            </a:r>
            <a:r>
              <a:rPr lang="tr-TR" b="1" dirty="0"/>
              <a:t> </a:t>
            </a:r>
            <a:r>
              <a:rPr lang="tr-TR" b="1" dirty="0" err="1"/>
              <a:t>Calculations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8BA46F3-818F-B051-E531-08E390336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6970"/>
                <a:ext cx="10515600" cy="4639993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Assumptions;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=25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     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𝑇h𝑒𝑟𝑚𝑎𝑙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𝐺𝑟𝑎𝑠𝑒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𝐻𝑒𝑎𝑡𝑠𝑖𝑛𝑘</m:t>
                      </m:r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tr-T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𝑗𝑐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=1.9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𝑗𝑐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𝑑𝑖𝑜𝑑𝑒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tr-T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tr-T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=25+</m:t>
                      </m:r>
                      <m:d>
                        <m:d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0.79+0.6</m:t>
                          </m:r>
                        </m:e>
                      </m:d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1.9+0.5+8</m:t>
                          </m:r>
                        </m:e>
                      </m:d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=39.5 ℃</m:t>
                      </m:r>
                    </m:oMath>
                  </m:oMathPara>
                </a14:m>
                <a:endParaRPr lang="tr-T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𝑑𝑖𝑜𝑑𝑒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=25+1.78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2+0.5+8</m:t>
                          </m:r>
                        </m:e>
                      </m:d>
                      <m:f>
                        <m:fPr>
                          <m:ctrlP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tr-T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tr-T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=43.7 ℃</m:t>
                      </m:r>
                    </m:oMath>
                  </m:oMathPara>
                </a14:m>
                <a:endParaRPr lang="tr-TR" dirty="0"/>
              </a:p>
              <a:p>
                <a:pPr marL="0" indent="0" algn="ctr">
                  <a:buNone/>
                </a:pPr>
                <a:r>
                  <a:rPr lang="tr-TR" dirty="0"/>
                  <a:t>No </a:t>
                </a:r>
                <a:r>
                  <a:rPr lang="tr-TR" dirty="0" err="1"/>
                  <a:t>Need</a:t>
                </a:r>
                <a:r>
                  <a:rPr lang="tr-TR" dirty="0"/>
                  <a:t> </a:t>
                </a:r>
                <a:r>
                  <a:rPr lang="tr-TR" dirty="0" err="1"/>
                  <a:t>Fans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Semi-</a:t>
                </a:r>
                <a:r>
                  <a:rPr lang="tr-TR" dirty="0" err="1"/>
                  <a:t>Conductors</a:t>
                </a:r>
                <a:r>
                  <a:rPr lang="tr-TR" dirty="0"/>
                  <a:t> !</a:t>
                </a:r>
              </a:p>
              <a:p>
                <a:pPr marL="0" indent="0">
                  <a:buNone/>
                </a:pPr>
                <a:endParaRPr lang="tr-TR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8BA46F3-818F-B051-E531-08E390336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6970"/>
                <a:ext cx="10515600" cy="4639993"/>
              </a:xfrm>
              <a:blipFill>
                <a:blip r:embed="rId2"/>
                <a:stretch>
                  <a:fillRect l="-1043" t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89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İçerik Yer Tutucusu 5" descr="metin, diyagram, ekran görüntüsü, çizgi içeren bir resim&#10;&#10;Açıklama otomatik olarak oluşturuldu">
            <a:extLst>
              <a:ext uri="{FF2B5EF4-FFF2-40B4-BE49-F238E27FC236}">
                <a16:creationId xmlns:a16="http://schemas.microsoft.com/office/drawing/2014/main" id="{D1421688-6CB5-A172-F843-CD12E230A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56034"/>
            <a:ext cx="10515600" cy="5165387"/>
          </a:xfrm>
        </p:spPr>
      </p:pic>
    </p:spTree>
    <p:extLst>
      <p:ext uri="{BB962C8B-B14F-4D97-AF65-F5344CB8AC3E}">
        <p14:creationId xmlns:p14="http://schemas.microsoft.com/office/powerpoint/2010/main" val="312654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FA4BA1-2C80-5123-DA70-C8FBFD9F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 dirty="0"/>
              <a:t>UC3843</a:t>
            </a:r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CECD9FA-8CF5-4E06-9DC9-6AFEB117F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89889"/>
            <a:ext cx="5183188" cy="4399774"/>
          </a:xfrm>
        </p:spPr>
        <p:txBody>
          <a:bodyPr/>
          <a:lstStyle/>
          <a:p>
            <a:r>
              <a:rPr lang="tr-TR" dirty="0"/>
              <a:t>12-28V </a:t>
            </a:r>
            <a:r>
              <a:rPr lang="tr-TR" dirty="0" err="1"/>
              <a:t>Input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Control</a:t>
            </a:r>
          </a:p>
          <a:p>
            <a:endParaRPr lang="tr-TR" dirty="0"/>
          </a:p>
          <a:p>
            <a:r>
              <a:rPr lang="tr-TR" dirty="0" err="1"/>
              <a:t>Up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500 kHz</a:t>
            </a:r>
          </a:p>
          <a:p>
            <a:endParaRPr lang="tr-TR" dirty="0"/>
          </a:p>
          <a:p>
            <a:r>
              <a:rPr lang="tr-TR" dirty="0"/>
              <a:t>No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Additional</a:t>
            </a:r>
            <a:r>
              <a:rPr lang="tr-TR" dirty="0"/>
              <a:t> </a:t>
            </a:r>
            <a:r>
              <a:rPr lang="tr-TR" dirty="0" err="1"/>
              <a:t>Gate</a:t>
            </a:r>
            <a:r>
              <a:rPr lang="tr-TR" dirty="0"/>
              <a:t> Driver</a:t>
            </a:r>
            <a:endParaRPr lang="en-US" dirty="0"/>
          </a:p>
        </p:txBody>
      </p:sp>
      <p:pic>
        <p:nvPicPr>
          <p:cNvPr id="7" name="İçerik Yer Tutucusu 4" descr="diyagram, plan, metin, teknik çizim içeren bir resim&#10;&#10;Açıklama otomatik olarak oluşturuldu">
            <a:extLst>
              <a:ext uri="{FF2B5EF4-FFF2-40B4-BE49-F238E27FC236}">
                <a16:creationId xmlns:a16="http://schemas.microsoft.com/office/drawing/2014/main" id="{89FCC065-4EAA-D821-7E11-61DAF23388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690688"/>
            <a:ext cx="5157787" cy="4498975"/>
          </a:xfrm>
        </p:spPr>
      </p:pic>
    </p:spTree>
    <p:extLst>
      <p:ext uri="{BB962C8B-B14F-4D97-AF65-F5344CB8AC3E}">
        <p14:creationId xmlns:p14="http://schemas.microsoft.com/office/powerpoint/2010/main" val="159952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FA4BA1-2C80-5123-DA70-C8FBFD9F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 dirty="0"/>
              <a:t>UC3843</a:t>
            </a:r>
            <a:endParaRPr lang="en-US" dirty="0"/>
          </a:p>
        </p:txBody>
      </p:sp>
      <p:pic>
        <p:nvPicPr>
          <p:cNvPr id="7" name="İçerik Yer Tutucusu 4" descr="diyagram, plan, metin, teknik çizim içeren bir resim&#10;&#10;Açıklama otomatik olarak oluşturuldu">
            <a:extLst>
              <a:ext uri="{FF2B5EF4-FFF2-40B4-BE49-F238E27FC236}">
                <a16:creationId xmlns:a16="http://schemas.microsoft.com/office/drawing/2014/main" id="{89FCC065-4EAA-D821-7E11-61DAF23388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90" y="2003898"/>
            <a:ext cx="5157787" cy="3628417"/>
          </a:xfrm>
        </p:spPr>
      </p:pic>
      <p:pic>
        <p:nvPicPr>
          <p:cNvPr id="3" name="İçerik Yer Tutucusu 5" descr="metin, diyagram, ekran görüntüsü, çizgi içeren bir resim&#10;&#10;Açıklama otomatik olarak oluşturuldu">
            <a:extLst>
              <a:ext uri="{FF2B5EF4-FFF2-40B4-BE49-F238E27FC236}">
                <a16:creationId xmlns:a16="http://schemas.microsoft.com/office/drawing/2014/main" id="{9A2F573F-1AD8-7E84-77BC-52BFA51BC89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024" y="2003898"/>
            <a:ext cx="5183188" cy="3628417"/>
          </a:xfrm>
        </p:spPr>
      </p:pic>
    </p:spTree>
    <p:extLst>
      <p:ext uri="{BB962C8B-B14F-4D97-AF65-F5344CB8AC3E}">
        <p14:creationId xmlns:p14="http://schemas.microsoft.com/office/powerpoint/2010/main" val="154521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BEEE83-DD63-FF49-00B8-0B081384E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3752"/>
          </a:xfrm>
        </p:spPr>
        <p:txBody>
          <a:bodyPr/>
          <a:lstStyle/>
          <a:p>
            <a:r>
              <a:rPr lang="tr-TR" sz="3600" b="1" dirty="0"/>
              <a:t>18V-100% </a:t>
            </a:r>
            <a:r>
              <a:rPr lang="tr-TR" sz="3600" b="1" dirty="0" err="1"/>
              <a:t>Load</a:t>
            </a:r>
            <a:endParaRPr lang="en-US" b="1" dirty="0"/>
          </a:p>
        </p:txBody>
      </p:sp>
      <p:pic>
        <p:nvPicPr>
          <p:cNvPr id="5" name="İçerik Yer Tutucusu 4" descr="metin, ekran görüntüsü, öykü gelişim çizgisi; kumpas; grafiğini çıkarma, sayı, numara içeren bir resim&#10;&#10;Açıklama otomatik olarak oluşturuldu">
            <a:extLst>
              <a:ext uri="{FF2B5EF4-FFF2-40B4-BE49-F238E27FC236}">
                <a16:creationId xmlns:a16="http://schemas.microsoft.com/office/drawing/2014/main" id="{4FA0EDD3-DBC1-E36C-8695-0F8F22E90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61" y="1468438"/>
            <a:ext cx="10025278" cy="4708525"/>
          </a:xfrm>
        </p:spPr>
      </p:pic>
    </p:spTree>
    <p:extLst>
      <p:ext uri="{BB962C8B-B14F-4D97-AF65-F5344CB8AC3E}">
        <p14:creationId xmlns:p14="http://schemas.microsoft.com/office/powerpoint/2010/main" val="2396258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diyagram, öykü gelişim çizgisi; kumpas; grafiğini çıkarma içeren bir resim&#10;&#10;Açıklama otomatik olarak oluşturuldu">
            <a:extLst>
              <a:ext uri="{FF2B5EF4-FFF2-40B4-BE49-F238E27FC236}">
                <a16:creationId xmlns:a16="http://schemas.microsoft.com/office/drawing/2014/main" id="{38C9EE79-250B-2DE0-BC32-78EBC64A0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56608"/>
            <a:ext cx="10515600" cy="4895571"/>
          </a:xfrm>
        </p:spPr>
      </p:pic>
    </p:spTree>
    <p:extLst>
      <p:ext uri="{BB962C8B-B14F-4D97-AF65-F5344CB8AC3E}">
        <p14:creationId xmlns:p14="http://schemas.microsoft.com/office/powerpoint/2010/main" val="25192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CFF5D135-46EB-5E46-3FD1-48219FD85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41602"/>
            <a:ext cx="10515600" cy="4925583"/>
          </a:xfrm>
        </p:spPr>
      </p:pic>
    </p:spTree>
    <p:extLst>
      <p:ext uri="{BB962C8B-B14F-4D97-AF65-F5344CB8AC3E}">
        <p14:creationId xmlns:p14="http://schemas.microsoft.com/office/powerpoint/2010/main" val="1094000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4">
            <a:extLst>
              <a:ext uri="{FF2B5EF4-FFF2-40B4-BE49-F238E27FC236}">
                <a16:creationId xmlns:a16="http://schemas.microsoft.com/office/drawing/2014/main" id="{3381345F-8427-5BDC-1714-F761F8F10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973821"/>
              </p:ext>
            </p:extLst>
          </p:nvPr>
        </p:nvGraphicFramePr>
        <p:xfrm>
          <a:off x="838200" y="1825625"/>
          <a:ext cx="10515600" cy="23767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00513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29868615"/>
                    </a:ext>
                  </a:extLst>
                </a:gridCol>
              </a:tblGrid>
              <a:tr h="792241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/>
                        <a:t>Pin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55.36 W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637224"/>
                  </a:ext>
                </a:extLst>
              </a:tr>
              <a:tr h="792241">
                <a:tc>
                  <a:txBody>
                    <a:bodyPr/>
                    <a:lstStyle/>
                    <a:p>
                      <a:pPr algn="ctr"/>
                      <a:r>
                        <a:rPr lang="tr-TR" b="1" dirty="0" err="1"/>
                        <a:t>Pout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47.86 W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310415"/>
                  </a:ext>
                </a:extLst>
              </a:tr>
              <a:tr h="792241">
                <a:tc>
                  <a:txBody>
                    <a:bodyPr/>
                    <a:lstStyle/>
                    <a:p>
                      <a:pPr algn="ctr"/>
                      <a:r>
                        <a:rPr lang="tr-TR" b="1" dirty="0" err="1"/>
                        <a:t>Efficiency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86.45%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939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50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8A416A-0C6F-8C4C-6023-A8D40A2B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7020"/>
          </a:xfrm>
        </p:spPr>
        <p:txBody>
          <a:bodyPr/>
          <a:lstStyle/>
          <a:p>
            <a:r>
              <a:rPr lang="tr-TR" sz="3600" b="1" dirty="0"/>
              <a:t>12V - 25% </a:t>
            </a:r>
            <a:r>
              <a:rPr lang="tr-TR" sz="3600" b="1" dirty="0" err="1"/>
              <a:t>Load</a:t>
            </a:r>
            <a:endParaRPr lang="en-US" b="1" dirty="0"/>
          </a:p>
        </p:txBody>
      </p:sp>
      <p:pic>
        <p:nvPicPr>
          <p:cNvPr id="5" name="İçerik Yer Tutucusu 4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B57C347B-74A3-F561-33C6-ACDE4073A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36" y="1352550"/>
            <a:ext cx="10415728" cy="4824413"/>
          </a:xfrm>
        </p:spPr>
      </p:pic>
    </p:spTree>
    <p:extLst>
      <p:ext uri="{BB962C8B-B14F-4D97-AF65-F5344CB8AC3E}">
        <p14:creationId xmlns:p14="http://schemas.microsoft.com/office/powerpoint/2010/main" val="172676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04304A-4328-9ED2-E89B-AB2A9F2C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2390"/>
          </a:xfrm>
        </p:spPr>
        <p:txBody>
          <a:bodyPr/>
          <a:lstStyle/>
          <a:p>
            <a:r>
              <a:rPr lang="tr-TR" sz="3600" b="1" dirty="0" err="1"/>
              <a:t>Instant</a:t>
            </a:r>
            <a:r>
              <a:rPr lang="tr-TR" sz="3600" b="1" dirty="0"/>
              <a:t> </a:t>
            </a:r>
            <a:r>
              <a:rPr lang="tr-TR" sz="3600" b="1" dirty="0" err="1"/>
              <a:t>Load</a:t>
            </a:r>
            <a:r>
              <a:rPr lang="tr-TR" sz="3600" b="1" dirty="0"/>
              <a:t> </a:t>
            </a:r>
            <a:r>
              <a:rPr lang="tr-TR" sz="3600" b="1" dirty="0" err="1"/>
              <a:t>Change</a:t>
            </a:r>
            <a:endParaRPr lang="en-US" b="1" dirty="0"/>
          </a:p>
        </p:txBody>
      </p:sp>
      <p:pic>
        <p:nvPicPr>
          <p:cNvPr id="5" name="İçerik Yer Tutucusu 4" descr="metin, ekran görüntüsü, sayı, numara, diyagram içeren bir resim&#10;&#10;Açıklama otomatik olarak oluşturuldu">
            <a:extLst>
              <a:ext uri="{FF2B5EF4-FFF2-40B4-BE49-F238E27FC236}">
                <a16:creationId xmlns:a16="http://schemas.microsoft.com/office/drawing/2014/main" id="{60FD146B-0099-D530-C990-2CE1C1637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99" y="1517650"/>
            <a:ext cx="10053202" cy="4659313"/>
          </a:xfrm>
        </p:spPr>
      </p:pic>
    </p:spTree>
    <p:extLst>
      <p:ext uri="{BB962C8B-B14F-4D97-AF65-F5344CB8AC3E}">
        <p14:creationId xmlns:p14="http://schemas.microsoft.com/office/powerpoint/2010/main" val="1795417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37CFA3-EEE6-5637-F7AC-A1926F92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3752"/>
          </a:xfrm>
        </p:spPr>
        <p:txBody>
          <a:bodyPr/>
          <a:lstStyle/>
          <a:p>
            <a:r>
              <a:rPr lang="tr-TR" sz="3600" b="1" dirty="0" err="1"/>
              <a:t>Instant</a:t>
            </a:r>
            <a:r>
              <a:rPr lang="tr-TR" sz="3600" b="1" dirty="0"/>
              <a:t> </a:t>
            </a:r>
            <a:r>
              <a:rPr lang="tr-TR" sz="3600" b="1" dirty="0" err="1"/>
              <a:t>Input</a:t>
            </a:r>
            <a:r>
              <a:rPr lang="tr-TR" sz="3600" b="1" dirty="0"/>
              <a:t> </a:t>
            </a:r>
            <a:r>
              <a:rPr lang="tr-TR" sz="3600" b="1" dirty="0" err="1"/>
              <a:t>Change</a:t>
            </a:r>
            <a:endParaRPr lang="en-US" b="1" dirty="0"/>
          </a:p>
        </p:txBody>
      </p:sp>
      <p:pic>
        <p:nvPicPr>
          <p:cNvPr id="5" name="İçerik Yer Tutucusu 4" descr="metin, ekran görüntüsü, sayı, numara, yazılım içeren bir resim&#10;&#10;Açıklama otomatik olarak oluşturuldu">
            <a:extLst>
              <a:ext uri="{FF2B5EF4-FFF2-40B4-BE49-F238E27FC236}">
                <a16:creationId xmlns:a16="http://schemas.microsoft.com/office/drawing/2014/main" id="{A26BF253-8EE6-D882-8496-8583FB524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81" y="1468438"/>
            <a:ext cx="10170838" cy="4708525"/>
          </a:xfrm>
        </p:spPr>
      </p:pic>
    </p:spTree>
    <p:extLst>
      <p:ext uri="{BB962C8B-B14F-4D97-AF65-F5344CB8AC3E}">
        <p14:creationId xmlns:p14="http://schemas.microsoft.com/office/powerpoint/2010/main" val="1541796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D43007-0DEB-8A32-8CC2-5ACF96EC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837"/>
          </a:xfrm>
        </p:spPr>
        <p:txBody>
          <a:bodyPr>
            <a:normAutofit/>
          </a:bodyPr>
          <a:lstStyle/>
          <a:p>
            <a:r>
              <a:rPr lang="tr-TR" sz="4000" b="1" dirty="0" err="1"/>
              <a:t>Possible</a:t>
            </a:r>
            <a:r>
              <a:rPr lang="tr-TR" sz="4000" b="1" dirty="0"/>
              <a:t> </a:t>
            </a:r>
            <a:r>
              <a:rPr lang="tr-TR" sz="4000" b="1" dirty="0" err="1"/>
              <a:t>Bonuses</a:t>
            </a:r>
            <a:endParaRPr lang="en-US" sz="4000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F5F49F-4035-C0C7-2519-8B9D0DD66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063"/>
            <a:ext cx="10515600" cy="4571899"/>
          </a:xfrm>
        </p:spPr>
        <p:txBody>
          <a:bodyPr/>
          <a:lstStyle/>
          <a:p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Supply</a:t>
            </a:r>
            <a:endParaRPr lang="tr-TR" dirty="0"/>
          </a:p>
          <a:p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Control</a:t>
            </a:r>
          </a:p>
          <a:p>
            <a:r>
              <a:rPr lang="tr-TR" dirty="0" err="1"/>
              <a:t>Efficiency</a:t>
            </a:r>
            <a:endParaRPr lang="tr-TR" dirty="0"/>
          </a:p>
          <a:p>
            <a:r>
              <a:rPr lang="tr-TR" dirty="0"/>
              <a:t>Analog Controller IC</a:t>
            </a:r>
          </a:p>
          <a:p>
            <a:r>
              <a:rPr lang="tr-TR" dirty="0"/>
              <a:t>PCB </a:t>
            </a:r>
          </a:p>
          <a:p>
            <a:r>
              <a:rPr lang="tr-TR" dirty="0" err="1"/>
              <a:t>Industrial</a:t>
            </a:r>
            <a:r>
              <a:rPr lang="tr-TR" dirty="0"/>
              <a:t> Design</a:t>
            </a:r>
          </a:p>
          <a:p>
            <a:pPr marL="0" indent="0">
              <a:buNone/>
            </a:pP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83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EA32CE-A829-4497-630B-6D569FF4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4841"/>
          </a:xfrm>
        </p:spPr>
        <p:txBody>
          <a:bodyPr/>
          <a:lstStyle/>
          <a:p>
            <a:r>
              <a:rPr lang="tr-TR" b="1" dirty="0" err="1"/>
              <a:t>Questions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AEB27F-E249-67C0-DBEC-FAC05E68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153"/>
            <a:ext cx="10515600" cy="4610810"/>
          </a:xfrm>
        </p:spPr>
        <p:txBody>
          <a:bodyPr/>
          <a:lstStyle/>
          <a:p>
            <a:r>
              <a:rPr lang="en-US" dirty="0"/>
              <a:t>What would happen if we overdesign using one of the large cores</a:t>
            </a:r>
            <a:r>
              <a:rPr lang="tr-TR" dirty="0"/>
              <a:t> (</a:t>
            </a:r>
            <a:r>
              <a:rPr lang="en-US" b="0" i="0" dirty="0">
                <a:effectLst/>
                <a:latin typeface="Calibri" panose="020F0502020204030204" pitchFamily="34" charset="0"/>
              </a:rPr>
              <a:t>00K3515E090</a:t>
            </a:r>
            <a:r>
              <a:rPr lang="tr-TR" dirty="0"/>
              <a:t>) </a:t>
            </a:r>
            <a:r>
              <a:rPr lang="en-US" dirty="0"/>
              <a:t>in the lab?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What would happen if we put a large </a:t>
            </a:r>
            <a:r>
              <a:rPr lang="tr-TR" dirty="0" err="1"/>
              <a:t>core</a:t>
            </a:r>
            <a:r>
              <a:rPr lang="en-US" dirty="0"/>
              <a:t> into a small </a:t>
            </a:r>
            <a:r>
              <a:rPr lang="tr-TR" dirty="0" err="1"/>
              <a:t>coil</a:t>
            </a:r>
            <a:r>
              <a:rPr lang="tr-TR" dirty="0"/>
              <a:t> </a:t>
            </a:r>
            <a:r>
              <a:rPr lang="tr-TR" dirty="0" err="1"/>
              <a:t>former</a:t>
            </a:r>
            <a:r>
              <a:rPr lang="en-US" dirty="0"/>
              <a:t>?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W</a:t>
            </a:r>
            <a:r>
              <a:rPr lang="en-US" dirty="0"/>
              <a:t>e get higher efficiency</a:t>
            </a:r>
            <a:r>
              <a:rPr lang="tr-TR" dirty="0"/>
              <a:t> (87.27%)</a:t>
            </a:r>
            <a:r>
              <a:rPr lang="en-US" dirty="0"/>
              <a:t> at 100kHz in simulation. In practice, if we use the </a:t>
            </a:r>
            <a:r>
              <a:rPr lang="tr-TR" dirty="0"/>
              <a:t>24 </a:t>
            </a:r>
            <a:r>
              <a:rPr lang="tr-TR" dirty="0" err="1"/>
              <a:t>awg</a:t>
            </a:r>
            <a:r>
              <a:rPr lang="en-US" dirty="0"/>
              <a:t> cable at 100 kHz, will we lose too much because of the skin depth?</a:t>
            </a: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55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508</Words>
  <Application>Microsoft Office PowerPoint</Application>
  <PresentationFormat>Geniş ekran</PresentationFormat>
  <Paragraphs>101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Office Teması</vt:lpstr>
      <vt:lpstr>BACKFLYP</vt:lpstr>
      <vt:lpstr>Why Flyback</vt:lpstr>
      <vt:lpstr>Design Parameters</vt:lpstr>
      <vt:lpstr>PowerPoint Sunusu</vt:lpstr>
      <vt:lpstr>Magnetic Design</vt:lpstr>
      <vt:lpstr>PowerPoint Sunusu</vt:lpstr>
      <vt:lpstr>PowerPoint Sunusu</vt:lpstr>
      <vt:lpstr>Semiconductors</vt:lpstr>
      <vt:lpstr>Losses</vt:lpstr>
      <vt:lpstr>PowerPoint Sunusu</vt:lpstr>
      <vt:lpstr>Thermal Calculations</vt:lpstr>
      <vt:lpstr>PowerPoint Sunusu</vt:lpstr>
      <vt:lpstr>UC3843</vt:lpstr>
      <vt:lpstr>UC3843</vt:lpstr>
      <vt:lpstr>18V-100% Load</vt:lpstr>
      <vt:lpstr>PowerPoint Sunusu</vt:lpstr>
      <vt:lpstr>PowerPoint Sunusu</vt:lpstr>
      <vt:lpstr>PowerPoint Sunusu</vt:lpstr>
      <vt:lpstr>12V - 25% Load</vt:lpstr>
      <vt:lpstr>Instant Load Change</vt:lpstr>
      <vt:lpstr>Instant Input Change</vt:lpstr>
      <vt:lpstr>Possible Bonuses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Backflyp</dc:title>
  <dc:creator>Ahmet Furkan Gürsoy</dc:creator>
  <cp:lastModifiedBy>Ahmet Furkan Gürsoy</cp:lastModifiedBy>
  <cp:revision>9</cp:revision>
  <dcterms:created xsi:type="dcterms:W3CDTF">2023-05-09T06:25:27Z</dcterms:created>
  <dcterms:modified xsi:type="dcterms:W3CDTF">2023-05-10T08:09:58Z</dcterms:modified>
</cp:coreProperties>
</file>